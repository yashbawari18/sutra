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E8EAEF"/>
                </a:solidFill>
                <a:latin typeface="Arial"/>
              </a:defRPr>
            </a:pPr>
            <a:r>
              <a:rPr sz="1300" b="0" i="0" u="none" strike="noStrike">
                <a:solidFill>
                  <a:srgbClr val="E8EAEF"/>
                </a:solidFill>
                <a:latin typeface="Arial"/>
              </a:rPr>
              <a:t>Real computed scores (demo case)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Risk Indicator Score</c:v>
                </c:pt>
              </c:strCache>
            </c:strRef>
          </c:tx>
          <c:spPr>
            <a:solidFill>
              <a:srgbClr val="E8A3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E8EAE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Rajeev Malhotra</c:v>
                  </c:pt>
                  <c:pt idx="1">
                    <c:v>Anita Rao</c:v>
                  </c:pt>
                  <c:pt idx="2">
                    <c:v>Feroz Sheikh</c:v>
                  </c:pt>
                  <c:pt idx="3">
                    <c:v>Vikram Solanki</c:v>
                  </c:pt>
                  <c:pt idx="4">
                    <c:v>Kavita Joshi</c:v>
                  </c:pt>
                  <c:pt idx="5">
                    <c:v>Arjun Kapoor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63.8</c:v>
                </c:pt>
                <c:pt idx="1">
                  <c:v>42.6</c:v>
                </c:pt>
                <c:pt idx="2">
                  <c:v>30.7</c:v>
                </c:pt>
                <c:pt idx="3">
                  <c:v>26.5</c:v>
                </c:pt>
                <c:pt idx="4">
                  <c:v>22</c:v>
                </c:pt>
                <c:pt idx="5">
                  <c:v>11.8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E8EAE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892A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2A31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892A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71C26"/>
        </a:solidFill>
        <a:ln>
          <a:noFill/>
        </a:ln>
        <a:effectLst/>
      </c:spPr>
    </c:plotArea>
    <c:plotVisOnly val="1"/>
    <c:dispBlanksAs val="span"/>
  </c:chart>
  <c:spPr>
    <a:solidFill>
      <a:srgbClr val="10131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31A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960120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" name="Shape 2"/>
          <p:cNvSpPr/>
          <p:nvPr/>
        </p:nvSpPr>
        <p:spPr>
          <a:xfrm>
            <a:off x="1371600" y="960120"/>
            <a:ext cx="128016" cy="128016"/>
          </a:xfrm>
          <a:prstGeom prst="ellipse">
            <a:avLst/>
          </a:prstGeom>
          <a:solidFill>
            <a:srgbClr val="47C9B8"/>
          </a:solidFill>
          <a:ln/>
        </p:spPr>
      </p:sp>
      <p:sp>
        <p:nvSpPr>
          <p:cNvPr id="5" name="Shape 3"/>
          <p:cNvSpPr/>
          <p:nvPr/>
        </p:nvSpPr>
        <p:spPr>
          <a:xfrm>
            <a:off x="1097280" y="1417320"/>
            <a:ext cx="128016" cy="128016"/>
          </a:xfrm>
          <a:prstGeom prst="ellipse">
            <a:avLst/>
          </a:prstGeom>
          <a:solidFill>
            <a:srgbClr val="47C9B8"/>
          </a:solidFill>
          <a:ln/>
        </p:spPr>
      </p:sp>
      <p:sp>
        <p:nvSpPr>
          <p:cNvPr id="6" name="Shape 4"/>
          <p:cNvSpPr/>
          <p:nvPr/>
        </p:nvSpPr>
        <p:spPr>
          <a:xfrm>
            <a:off x="886968" y="1024128"/>
            <a:ext cx="484632" cy="0"/>
          </a:xfrm>
          <a:prstGeom prst="line">
            <a:avLst/>
          </a:prstGeom>
          <a:noFill/>
          <a:ln w="19050">
            <a:solidFill>
              <a:srgbClr val="E8A3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>
            <a:off x="886968" y="1024128"/>
            <a:ext cx="210312" cy="393192"/>
          </a:xfrm>
          <a:prstGeom prst="line">
            <a:avLst/>
          </a:prstGeom>
          <a:noFill/>
          <a:ln w="19050">
            <a:solidFill>
              <a:srgbClr val="47C9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1288" y="1024128"/>
            <a:ext cx="210312" cy="393192"/>
          </a:xfrm>
          <a:prstGeom prst="line">
            <a:avLst/>
          </a:prstGeom>
          <a:noFill/>
          <a:ln w="19050">
            <a:solidFill>
              <a:srgbClr val="47C9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965960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spc="300" kern="0" dirty="0">
                <a:solidFill>
                  <a:srgbClr val="E8EA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SŪTRA</a:t>
            </a:r>
            <a:endParaRPr lang="en-US" sz="6400" dirty="0"/>
          </a:p>
        </p:txBody>
      </p:sp>
      <p:sp>
        <p:nvSpPr>
          <p:cNvPr id="10" name="Text 8"/>
          <p:cNvSpPr/>
          <p:nvPr/>
        </p:nvSpPr>
        <p:spPr>
          <a:xfrm>
            <a:off x="576072" y="30632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47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CRIMINAL NETWORK INTELLIGENCE &amp; DECISION-SUPPORT PLATFORM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76072" y="3611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892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“Every clue has a thread. SŪTRA finds it.”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76072" y="4297680"/>
            <a:ext cx="5120640" cy="18288"/>
          </a:xfrm>
          <a:prstGeom prst="rect">
            <a:avLst/>
          </a:prstGeom>
          <a:solidFill>
            <a:srgbClr val="2A3140"/>
          </a:solidFill>
          <a:ln/>
        </p:spPr>
      </p:sp>
      <p:sp>
        <p:nvSpPr>
          <p:cNvPr id="13" name="Text 11"/>
          <p:cNvSpPr/>
          <p:nvPr/>
        </p:nvSpPr>
        <p:spPr>
          <a:xfrm>
            <a:off x="576072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65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 Hackathon 2026  ·  Problem Statement: Criminal Network Analysis using AI/ML/Graph Analytics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503920" y="50292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171C26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0" y="5029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· SYNTHETIC DATA ONLY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A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Investigators aren't short on data. They're short on synthesis.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697480" cy="3017520"/>
          </a:xfrm>
          <a:prstGeom prst="roundRect">
            <a:avLst>
              <a:gd name="adj" fmla="val 2034"/>
            </a:avLst>
          </a:prstGeom>
          <a:solidFill>
            <a:srgbClr val="171C26"/>
          </a:solidFill>
          <a:ln w="12700">
            <a:solidFill>
              <a:srgbClr val="2A31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2240280"/>
            <a:ext cx="22951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7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 &amp; Police Reports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49808" y="2926080"/>
            <a:ext cx="229514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892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Unstructured, often handwritten or scanned, filed across separate stations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0" y="1965960"/>
            <a:ext cx="2697480" cy="3017520"/>
          </a:xfrm>
          <a:prstGeom prst="roundRect">
            <a:avLst>
              <a:gd name="adj" fmla="val 2034"/>
            </a:avLst>
          </a:prstGeom>
          <a:solidFill>
            <a:srgbClr val="171C26"/>
          </a:solidFill>
          <a:ln w="12700">
            <a:solidFill>
              <a:srgbClr val="2A31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75888" y="2240280"/>
            <a:ext cx="22951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7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Detail Records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75888" y="2926080"/>
            <a:ext cx="229514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892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Thousands of rows per case, no obvious pattern to a human reader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0" y="1965960"/>
            <a:ext cx="2697480" cy="3017520"/>
          </a:xfrm>
          <a:prstGeom prst="roundRect">
            <a:avLst>
              <a:gd name="adj" fmla="val 2034"/>
            </a:avLst>
          </a:prstGeom>
          <a:solidFill>
            <a:srgbClr val="171C26"/>
          </a:solidFill>
          <a:ln w="12700">
            <a:solidFill>
              <a:srgbClr val="2A31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01968" y="2240280"/>
            <a:ext cx="22951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7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Transactions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601968" y="2926080"/>
            <a:ext cx="229514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892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records that reveal nothing until cross-referenced with people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326880" y="1965960"/>
            <a:ext cx="2697480" cy="3017520"/>
          </a:xfrm>
          <a:prstGeom prst="roundRect">
            <a:avLst>
              <a:gd name="adj" fmla="val 2034"/>
            </a:avLst>
          </a:prstGeom>
          <a:solidFill>
            <a:srgbClr val="171C26"/>
          </a:solidFill>
          <a:ln w="12700">
            <a:solidFill>
              <a:srgbClr val="2A31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28048" y="2240280"/>
            <a:ext cx="22951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7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Surveillance &amp; Social Intel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528048" y="2926080"/>
            <a:ext cx="229514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892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Fragments that only mean something next to other fragments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52578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8EA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network hides in the gaps between these sources — and manual cross-referencing at scale is slow, exhausting, and error-prone.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A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AI system. One design law.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69494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892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SŪTRA ingests FIRs, CDRs, financial records, and surveillance reports — extracts and resolves entities, builds a live knowledge graph, and surfaces hidden connections as evidence-backed investigative leads.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520440"/>
            <a:ext cx="6949440" cy="2011680"/>
          </a:xfrm>
          <a:prstGeom prst="roundRect">
            <a:avLst>
              <a:gd name="adj" fmla="val 3636"/>
            </a:avLst>
          </a:prstGeom>
          <a:solidFill>
            <a:srgbClr val="171C26"/>
          </a:solidFill>
          <a:ln w="15875">
            <a:solidFill>
              <a:srgbClr val="E8A3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703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DESIGN LAW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402336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E8EA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SUTRA never declares anyone a criminal. Every output is a potential association, a risk indicator, or an investigative lead — always requiring human verification.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955280" y="1874520"/>
            <a:ext cx="3291840" cy="868680"/>
          </a:xfrm>
          <a:prstGeom prst="roundRect">
            <a:avLst>
              <a:gd name="adj" fmla="val 6316"/>
            </a:avLst>
          </a:prstGeom>
          <a:solidFill>
            <a:srgbClr val="1E2530"/>
          </a:solidFill>
          <a:ln w="12700">
            <a:solidFill>
              <a:srgbClr val="47C9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92440" y="1874520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Algorithms Discover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601200" y="2743200"/>
            <a:ext cx="0" cy="137160"/>
          </a:xfrm>
          <a:prstGeom prst="line">
            <a:avLst/>
          </a:prstGeom>
          <a:noFill/>
          <a:ln w="19050">
            <a:solidFill>
              <a:srgbClr val="565F72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955280" y="2880360"/>
            <a:ext cx="3291840" cy="868680"/>
          </a:xfrm>
          <a:prstGeom prst="roundRect">
            <a:avLst>
              <a:gd name="adj" fmla="val 6316"/>
            </a:avLst>
          </a:prstGeom>
          <a:solidFill>
            <a:srgbClr val="1E2530"/>
          </a:solidFill>
          <a:ln w="12700">
            <a:solidFill>
              <a:srgbClr val="47C9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92440" y="2880360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Graph Connects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601200" y="3749040"/>
            <a:ext cx="0" cy="137160"/>
          </a:xfrm>
          <a:prstGeom prst="line">
            <a:avLst/>
          </a:prstGeom>
          <a:noFill/>
          <a:ln w="19050">
            <a:solidFill>
              <a:srgbClr val="565F72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955280" y="3886200"/>
            <a:ext cx="3291840" cy="868680"/>
          </a:xfrm>
          <a:prstGeom prst="roundRect">
            <a:avLst>
              <a:gd name="adj" fmla="val 6316"/>
            </a:avLst>
          </a:prstGeom>
          <a:solidFill>
            <a:srgbClr val="1E2530"/>
          </a:solidFill>
          <a:ln w="12700">
            <a:solidFill>
              <a:srgbClr val="47C9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92440" y="3886200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Anomaly Engine Flags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601200" y="4754880"/>
            <a:ext cx="0" cy="137160"/>
          </a:xfrm>
          <a:prstGeom prst="line">
            <a:avLst/>
          </a:prstGeom>
          <a:noFill/>
          <a:ln w="19050">
            <a:solidFill>
              <a:srgbClr val="565F72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955280" y="4892040"/>
            <a:ext cx="3291840" cy="868680"/>
          </a:xfrm>
          <a:prstGeom prst="roundRect">
            <a:avLst>
              <a:gd name="adj" fmla="val 6316"/>
            </a:avLst>
          </a:prstGeom>
          <a:solidFill>
            <a:srgbClr val="1E2530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92440" y="4892040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Explains (never decides)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A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raw records to investigative leads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99136" y="2377440"/>
            <a:ext cx="1024128" cy="1234440"/>
          </a:xfrm>
          <a:prstGeom prst="roundRect">
            <a:avLst>
              <a:gd name="adj" fmla="val 4464"/>
            </a:avLst>
          </a:prstGeom>
          <a:solidFill>
            <a:srgbClr val="171C26"/>
          </a:solidFill>
          <a:ln w="15875">
            <a:solidFill>
              <a:srgbClr val="47C9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5712" y="2450592"/>
            <a:ext cx="95097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EA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E8EA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Ingestion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423264" y="2994660"/>
            <a:ext cx="128016" cy="0"/>
          </a:xfrm>
          <a:prstGeom prst="line">
            <a:avLst/>
          </a:prstGeom>
          <a:noFill/>
          <a:ln w="19050">
            <a:solidFill>
              <a:srgbClr val="565F72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551280" y="2377440"/>
            <a:ext cx="1024128" cy="1234440"/>
          </a:xfrm>
          <a:prstGeom prst="roundRect">
            <a:avLst>
              <a:gd name="adj" fmla="val 4464"/>
            </a:avLst>
          </a:prstGeom>
          <a:solidFill>
            <a:srgbClr val="171C26"/>
          </a:solidFill>
          <a:ln w="15875">
            <a:solidFill>
              <a:srgbClr val="47C9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87856" y="2450592"/>
            <a:ext cx="95097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EA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 +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E8EA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Cleaning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575408" y="2994660"/>
            <a:ext cx="128016" cy="0"/>
          </a:xfrm>
          <a:prstGeom prst="line">
            <a:avLst/>
          </a:prstGeom>
          <a:noFill/>
          <a:ln w="19050">
            <a:solidFill>
              <a:srgbClr val="565F72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703424" y="2377440"/>
            <a:ext cx="1024128" cy="1234440"/>
          </a:xfrm>
          <a:prstGeom prst="roundRect">
            <a:avLst>
              <a:gd name="adj" fmla="val 4464"/>
            </a:avLst>
          </a:prstGeom>
          <a:solidFill>
            <a:srgbClr val="171C26"/>
          </a:solidFill>
          <a:ln w="15875">
            <a:solidFill>
              <a:srgbClr val="47C9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0000" y="2450592"/>
            <a:ext cx="95097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EA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 Entity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E8EA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727552" y="2994660"/>
            <a:ext cx="128016" cy="0"/>
          </a:xfrm>
          <a:prstGeom prst="line">
            <a:avLst/>
          </a:prstGeom>
          <a:noFill/>
          <a:ln w="19050">
            <a:solidFill>
              <a:srgbClr val="565F72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855568" y="2377440"/>
            <a:ext cx="1024128" cy="1234440"/>
          </a:xfrm>
          <a:prstGeom prst="roundRect">
            <a:avLst>
              <a:gd name="adj" fmla="val 4464"/>
            </a:avLst>
          </a:prstGeom>
          <a:solidFill>
            <a:srgbClr val="171C26"/>
          </a:solidFill>
          <a:ln w="15875">
            <a:solidFill>
              <a:srgbClr val="E8A3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92144" y="2450592"/>
            <a:ext cx="95097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EA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E8EA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879696" y="2994660"/>
            <a:ext cx="128016" cy="0"/>
          </a:xfrm>
          <a:prstGeom prst="line">
            <a:avLst/>
          </a:prstGeom>
          <a:noFill/>
          <a:ln w="19050">
            <a:solidFill>
              <a:srgbClr val="565F72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007712" y="2377440"/>
            <a:ext cx="1024128" cy="1234440"/>
          </a:xfrm>
          <a:prstGeom prst="roundRect">
            <a:avLst>
              <a:gd name="adj" fmla="val 4464"/>
            </a:avLst>
          </a:prstGeom>
          <a:solidFill>
            <a:srgbClr val="171C26"/>
          </a:solidFill>
          <a:ln w="15875">
            <a:solidFill>
              <a:srgbClr val="47C9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44288" y="2450592"/>
            <a:ext cx="95097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EA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E8EA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031840" y="2994660"/>
            <a:ext cx="128016" cy="0"/>
          </a:xfrm>
          <a:prstGeom prst="line">
            <a:avLst/>
          </a:prstGeom>
          <a:noFill/>
          <a:ln w="19050">
            <a:solidFill>
              <a:srgbClr val="565F72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159856" y="2377440"/>
            <a:ext cx="1024128" cy="1234440"/>
          </a:xfrm>
          <a:prstGeom prst="roundRect">
            <a:avLst>
              <a:gd name="adj" fmla="val 4464"/>
            </a:avLst>
          </a:prstGeom>
          <a:solidFill>
            <a:srgbClr val="171C26"/>
          </a:solidFill>
          <a:ln w="15875">
            <a:solidFill>
              <a:srgbClr val="E8A3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96432" y="2450592"/>
            <a:ext cx="95097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EA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E8EA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183984" y="2994660"/>
            <a:ext cx="128016" cy="0"/>
          </a:xfrm>
          <a:prstGeom prst="line">
            <a:avLst/>
          </a:prstGeom>
          <a:noFill/>
          <a:ln w="19050">
            <a:solidFill>
              <a:srgbClr val="565F72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312000" y="2377440"/>
            <a:ext cx="1024128" cy="1234440"/>
          </a:xfrm>
          <a:prstGeom prst="roundRect">
            <a:avLst>
              <a:gd name="adj" fmla="val 4464"/>
            </a:avLst>
          </a:prstGeom>
          <a:solidFill>
            <a:srgbClr val="171C26"/>
          </a:solidFill>
          <a:ln w="15875">
            <a:solidFill>
              <a:srgbClr val="E8A3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48576" y="2450592"/>
            <a:ext cx="95097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EA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Anomaly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E8EA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336128" y="2994660"/>
            <a:ext cx="128016" cy="0"/>
          </a:xfrm>
          <a:prstGeom prst="line">
            <a:avLst/>
          </a:prstGeom>
          <a:noFill/>
          <a:ln w="19050">
            <a:solidFill>
              <a:srgbClr val="565F72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464144" y="2377440"/>
            <a:ext cx="1024128" cy="1234440"/>
          </a:xfrm>
          <a:prstGeom prst="roundRect">
            <a:avLst>
              <a:gd name="adj" fmla="val 4464"/>
            </a:avLst>
          </a:prstGeom>
          <a:solidFill>
            <a:srgbClr val="171C26"/>
          </a:solidFill>
          <a:ln w="15875">
            <a:solidFill>
              <a:srgbClr val="E8A3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00720" y="2450592"/>
            <a:ext cx="95097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EA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E8EA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488272" y="2994660"/>
            <a:ext cx="128016" cy="0"/>
          </a:xfrm>
          <a:prstGeom prst="line">
            <a:avLst/>
          </a:prstGeom>
          <a:noFill/>
          <a:ln w="19050">
            <a:solidFill>
              <a:srgbClr val="565F72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616288" y="2377440"/>
            <a:ext cx="1024128" cy="1234440"/>
          </a:xfrm>
          <a:prstGeom prst="roundRect">
            <a:avLst>
              <a:gd name="adj" fmla="val 4464"/>
            </a:avLst>
          </a:prstGeom>
          <a:solidFill>
            <a:srgbClr val="171C26"/>
          </a:solidFill>
          <a:ln w="15875">
            <a:solidFill>
              <a:srgbClr val="47C9B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52864" y="2450592"/>
            <a:ext cx="95097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EA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E8EA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Assistant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10640416" y="2994660"/>
            <a:ext cx="128016" cy="0"/>
          </a:xfrm>
          <a:prstGeom prst="line">
            <a:avLst/>
          </a:prstGeom>
          <a:noFill/>
          <a:ln w="19050">
            <a:solidFill>
              <a:srgbClr val="565F72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10768432" y="2377440"/>
            <a:ext cx="1024128" cy="1234440"/>
          </a:xfrm>
          <a:prstGeom prst="roundRect">
            <a:avLst>
              <a:gd name="adj" fmla="val 4464"/>
            </a:avLst>
          </a:prstGeom>
          <a:solidFill>
            <a:srgbClr val="171C26"/>
          </a:solidFill>
          <a:ln w="15875">
            <a:solidFill>
              <a:srgbClr val="47C9B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805008" y="2450592"/>
            <a:ext cx="95097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EA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Investigator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E8EA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48640" y="42062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65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Highlighted stages (amber) are where SUTRA's actual differentiation lives — entity resolution and the transparent, source-weighted risk scoring formula.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548640" y="4983480"/>
            <a:ext cx="2697480" cy="1234440"/>
          </a:xfrm>
          <a:prstGeom prst="roundRect">
            <a:avLst>
              <a:gd name="adj" fmla="val 4444"/>
            </a:avLst>
          </a:prstGeom>
          <a:solidFill>
            <a:srgbClr val="1E2530"/>
          </a:solidFill>
          <a:ln w="12700">
            <a:solidFill>
              <a:srgbClr val="2A314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3232" y="5120640"/>
            <a:ext cx="23682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7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713232" y="5458968"/>
            <a:ext cx="236829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892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+ D3.js knowledge-graph visualization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474720" y="4983480"/>
            <a:ext cx="2697480" cy="1234440"/>
          </a:xfrm>
          <a:prstGeom prst="roundRect">
            <a:avLst>
              <a:gd name="adj" fmla="val 4444"/>
            </a:avLst>
          </a:prstGeom>
          <a:solidFill>
            <a:srgbClr val="1E2530"/>
          </a:solidFill>
          <a:ln w="12700">
            <a:solidFill>
              <a:srgbClr val="2A314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39312" y="5120640"/>
            <a:ext cx="23682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7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3639312" y="5458968"/>
            <a:ext cx="236829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892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FastAPI, JWT + role-based access control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400800" y="4983480"/>
            <a:ext cx="2697480" cy="1234440"/>
          </a:xfrm>
          <a:prstGeom prst="roundRect">
            <a:avLst>
              <a:gd name="adj" fmla="val 4444"/>
            </a:avLst>
          </a:prstGeom>
          <a:solidFill>
            <a:srgbClr val="1E2530"/>
          </a:solidFill>
          <a:ln w="12700">
            <a:solidFill>
              <a:srgbClr val="2A314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65392" y="5120640"/>
            <a:ext cx="23682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7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DB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6565392" y="5458968"/>
            <a:ext cx="236829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892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Neo4j — native multi-hop relationship queries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9326880" y="4983480"/>
            <a:ext cx="2697480" cy="1234440"/>
          </a:xfrm>
          <a:prstGeom prst="roundRect">
            <a:avLst>
              <a:gd name="adj" fmla="val 4444"/>
            </a:avLst>
          </a:prstGeom>
          <a:solidFill>
            <a:srgbClr val="1E2530"/>
          </a:solidFill>
          <a:ln w="12700">
            <a:solidFill>
              <a:srgbClr val="2A314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491472" y="5120640"/>
            <a:ext cx="23682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7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Layer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9491472" y="5458968"/>
            <a:ext cx="236829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892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spaCy/IndicNLP + scikit-learn + RAG-constrained LLM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DIFFERENTIATOR 01 — ENTITY RESOLUTION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A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student projects skip this. We built it.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892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documents describe the same person differently. Without resolving that, a knowledge graph fills with duplicate, disconnected nodes — and hides the very connections it's meant to find.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11064240" cy="2880360"/>
          </a:xfrm>
          <a:prstGeom prst="roundRect">
            <a:avLst>
              <a:gd name="adj" fmla="val 2540"/>
            </a:avLst>
          </a:prstGeom>
          <a:solidFill>
            <a:srgbClr val="171C26"/>
          </a:solidFill>
          <a:ln w="12700">
            <a:solidFill>
              <a:srgbClr val="2A31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880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OUTPUT FROM OUR WORKING ENGINE  (not a mockup)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" y="32918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A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“R. Malhotra”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114800" y="32918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892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Rajeev Malhotra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858000" y="329184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7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863840" y="32918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AUTO-MERGE (flagged for confirmation)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38404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A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“A. Rao”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114800" y="38404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892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Anita Rao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858000" y="384048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7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863840" y="384048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AUTO-MERGE (flagged for confirmation)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68680" y="438912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A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“Vikram S.”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114800" y="43891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892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Vikram Solanki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858000" y="438912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7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863840" y="438912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AUTO-MERGE (flagged for confirmation)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68680" y="493776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A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“Ferozz Shiekh” (misspelled)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114800" y="49377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892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Feroz Sheikh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858000" y="493776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48%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863840" y="493776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SUGGESTED MATCH — requires manual review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48640" y="5742432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65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the last row: a misspelled name correctly drops to “requires review” instead of auto-merging — real false-positive protection, not a scripted demo.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DIFFERENTIATOR 02 — EXPLAINABLE RISK SCORING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A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transparent formula, not a black box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3949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892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score is a weighted, auditable formula — never an opaque ML classifier. Source reliability is a MULTIPLIER, so a pattern built on an anonymous tip can never score high, no matter how unusual it looks.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3017520"/>
            <a:ext cx="5394960" cy="1737360"/>
          </a:xfrm>
          <a:prstGeom prst="roundRect">
            <a:avLst>
              <a:gd name="adj" fmla="val 3158"/>
            </a:avLst>
          </a:prstGeom>
          <a:solidFill>
            <a:srgbClr val="171C26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315468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892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 Score =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E8EA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0.25·comm_anomaly + 0.20·financial_anomaly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E8EA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+ 0.20·centrality + 0.15·temporal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E8EA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+ 0.10·location + 0.10·resolution_conf.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 source_reliability_multiplier (0.4–1.0)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4956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65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returned score is always shown with: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525780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Full reasoning breakdown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55778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Source evidence record IDs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589788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“Requires human verification” flag</a:t>
            </a:r>
            <a:endParaRPr lang="en-US" sz="12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6263640" y="1828800"/>
          <a:ext cx="53949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DIFFERENTIATOR 03 — AI INVESTIGATION ASSISTANT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A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LLM explains evidence. It never decides anything.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2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answer follows a fixed, auditable structure — constrained entirely to retrieved graph facts and source documents (RAG), never the model's own “memory.”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3728" y="2743200"/>
            <a:ext cx="1691640" cy="1188720"/>
          </a:xfrm>
          <a:prstGeom prst="roundRect">
            <a:avLst>
              <a:gd name="adj" fmla="val 4615"/>
            </a:avLst>
          </a:prstGeom>
          <a:solidFill>
            <a:srgbClr val="171C26"/>
          </a:solidFill>
          <a:ln w="15875">
            <a:solidFill>
              <a:srgbClr val="47C9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6880" y="2743200"/>
            <a:ext cx="154533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7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255368" y="3337560"/>
            <a:ext cx="182880" cy="0"/>
          </a:xfrm>
          <a:prstGeom prst="line">
            <a:avLst/>
          </a:prstGeom>
          <a:noFill/>
          <a:ln w="19050">
            <a:solidFill>
              <a:srgbClr val="565F72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438248" y="2743200"/>
            <a:ext cx="1691640" cy="1188720"/>
          </a:xfrm>
          <a:prstGeom prst="roundRect">
            <a:avLst>
              <a:gd name="adj" fmla="val 4615"/>
            </a:avLst>
          </a:prstGeom>
          <a:solidFill>
            <a:srgbClr val="171C26"/>
          </a:solidFill>
          <a:ln w="15875">
            <a:solidFill>
              <a:srgbClr val="47C9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11400" y="2743200"/>
            <a:ext cx="154533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7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Supporting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47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Entities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129888" y="3337560"/>
            <a:ext cx="182880" cy="0"/>
          </a:xfrm>
          <a:prstGeom prst="line">
            <a:avLst/>
          </a:prstGeom>
          <a:noFill/>
          <a:ln w="19050">
            <a:solidFill>
              <a:srgbClr val="565F72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312768" y="2743200"/>
            <a:ext cx="1691640" cy="1188720"/>
          </a:xfrm>
          <a:prstGeom prst="roundRect">
            <a:avLst>
              <a:gd name="adj" fmla="val 4615"/>
            </a:avLst>
          </a:prstGeom>
          <a:solidFill>
            <a:srgbClr val="171C26"/>
          </a:solidFill>
          <a:ln w="15875">
            <a:solidFill>
              <a:srgbClr val="47C9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5920" y="2743200"/>
            <a:ext cx="154533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7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Supporting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47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Relationships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04408" y="3337560"/>
            <a:ext cx="182880" cy="0"/>
          </a:xfrm>
          <a:prstGeom prst="line">
            <a:avLst/>
          </a:prstGeom>
          <a:noFill/>
          <a:ln w="19050">
            <a:solidFill>
              <a:srgbClr val="565F72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187288" y="2743200"/>
            <a:ext cx="1691640" cy="1188720"/>
          </a:xfrm>
          <a:prstGeom prst="roundRect">
            <a:avLst>
              <a:gd name="adj" fmla="val 4615"/>
            </a:avLst>
          </a:prstGeom>
          <a:solidFill>
            <a:srgbClr val="171C26"/>
          </a:solidFill>
          <a:ln w="15875">
            <a:solidFill>
              <a:srgbClr val="47C9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0440" y="2743200"/>
            <a:ext cx="154533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7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47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878928" y="3337560"/>
            <a:ext cx="182880" cy="0"/>
          </a:xfrm>
          <a:prstGeom prst="line">
            <a:avLst/>
          </a:prstGeom>
          <a:noFill/>
          <a:ln w="19050">
            <a:solidFill>
              <a:srgbClr val="565F72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061808" y="2743200"/>
            <a:ext cx="1691640" cy="1188720"/>
          </a:xfrm>
          <a:prstGeom prst="roundRect">
            <a:avLst>
              <a:gd name="adj" fmla="val 4615"/>
            </a:avLst>
          </a:prstGeom>
          <a:solidFill>
            <a:srgbClr val="171C26"/>
          </a:solidFill>
          <a:ln w="15875">
            <a:solidFill>
              <a:srgbClr val="47C9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34960" y="2743200"/>
            <a:ext cx="154533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7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753448" y="3337560"/>
            <a:ext cx="182880" cy="0"/>
          </a:xfrm>
          <a:prstGeom prst="line">
            <a:avLst/>
          </a:prstGeom>
          <a:noFill/>
          <a:ln w="19050">
            <a:solidFill>
              <a:srgbClr val="565F72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936328" y="2743200"/>
            <a:ext cx="1691640" cy="1188720"/>
          </a:xfrm>
          <a:prstGeom prst="roundRect">
            <a:avLst>
              <a:gd name="adj" fmla="val 4615"/>
            </a:avLst>
          </a:prstGeom>
          <a:solidFill>
            <a:srgbClr val="171C26"/>
          </a:solidFill>
          <a:ln w="15875">
            <a:solidFill>
              <a:srgbClr val="E548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09480" y="2743200"/>
            <a:ext cx="154533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Human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188720" y="4434840"/>
            <a:ext cx="9784080" cy="1691640"/>
          </a:xfrm>
          <a:prstGeom prst="roundRect">
            <a:avLst>
              <a:gd name="adj" fmla="val 4324"/>
            </a:avLst>
          </a:prstGeom>
          <a:solidFill>
            <a:srgbClr val="1E2530"/>
          </a:solidFill>
          <a:ln w="12700">
            <a:solidFill>
              <a:srgbClr val="2A31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63040" y="46177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QUERY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463040" y="4892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E8EA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“Why is this entity marked an investigative priority?”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463040" y="5303520"/>
            <a:ext cx="9235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892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High network centrality + repeated contact with 2 flagged entities + financial link to Entity X. Evidence: CDR-104, TXN-209, FIR-031. Confidence: 78%. Requires human verification.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A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engine found — on its own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6040" cy="1280160"/>
          </a:xfrm>
          <a:prstGeom prst="roundRect">
            <a:avLst>
              <a:gd name="adj" fmla="val 4286"/>
            </a:avLst>
          </a:prstGeom>
          <a:solidFill>
            <a:srgbClr val="171C26"/>
          </a:solidFill>
          <a:ln w="12700">
            <a:solidFill>
              <a:srgbClr val="2A31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38528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7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65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entities ingested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83280" y="1828800"/>
            <a:ext cx="2606040" cy="1280160"/>
          </a:xfrm>
          <a:prstGeom prst="roundRect">
            <a:avLst>
              <a:gd name="adj" fmla="val 4286"/>
            </a:avLst>
          </a:prstGeom>
          <a:solidFill>
            <a:srgbClr val="171C26"/>
          </a:solidFill>
          <a:ln w="12700">
            <a:solidFill>
              <a:srgbClr val="2A31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1938528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7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383280" y="26060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65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relationships mapped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2606040" cy="1280160"/>
          </a:xfrm>
          <a:prstGeom prst="roundRect">
            <a:avLst>
              <a:gd name="adj" fmla="val 4286"/>
            </a:avLst>
          </a:prstGeom>
          <a:solidFill>
            <a:srgbClr val="171C26"/>
          </a:solidFill>
          <a:ln w="12700">
            <a:solidFill>
              <a:srgbClr val="2A31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1938528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7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217920" y="26060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65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communities detected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052560" y="1828800"/>
            <a:ext cx="2606040" cy="1280160"/>
          </a:xfrm>
          <a:prstGeom prst="roundRect">
            <a:avLst>
              <a:gd name="adj" fmla="val 4286"/>
            </a:avLst>
          </a:prstGeom>
          <a:solidFill>
            <a:srgbClr val="171C26"/>
          </a:solidFill>
          <a:ln w="12700">
            <a:solidFill>
              <a:srgbClr val="2A31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52560" y="1938528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7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9052560" y="26060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65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indicators auto-flagged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429000"/>
            <a:ext cx="11064240" cy="2606040"/>
          </a:xfrm>
          <a:prstGeom prst="roundRect">
            <a:avLst>
              <a:gd name="adj" fmla="val 2807"/>
            </a:avLst>
          </a:prstGeom>
          <a:solidFill>
            <a:srgbClr val="171C26"/>
          </a:solidFill>
          <a:ln w="15875">
            <a:solidFill>
              <a:srgbClr val="E8A3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6118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HIDDEN CHAIN — DISCOVERED BY THE ALGORITHM, NOT SCRIPTED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8680" y="402336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8EA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Vikram Solanki  →  Phone (+91 88•••5561)  →  Phone (+91 99•••2207)  →  Anita Rao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68680" y="466344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892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low-level courier with no prior record was independently identified as the network's #1 bridging node by betweenness centrality — exactly the kind of connection a human analyst could spend days missing across scattered CDRs and FIRs.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TRUST, SAFETY &amp; FALSE-POSITIVE PROTECTION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A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a courtroom, not just a demo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66160" cy="1417320"/>
          </a:xfrm>
          <a:prstGeom prst="roundRect">
            <a:avLst>
              <a:gd name="adj" fmla="val 3871"/>
            </a:avLst>
          </a:prstGeom>
          <a:solidFill>
            <a:srgbClr val="171C26"/>
          </a:solidFill>
          <a:ln w="12700">
            <a:solidFill>
              <a:srgbClr val="2A31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02082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7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Auto-Accusation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404872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892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structurally cannot output a “criminal” label — only risk indicators requiring verification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297680" y="1874520"/>
            <a:ext cx="3566160" cy="1417320"/>
          </a:xfrm>
          <a:prstGeom prst="roundRect">
            <a:avLst>
              <a:gd name="adj" fmla="val 3871"/>
            </a:avLst>
          </a:prstGeom>
          <a:solidFill>
            <a:srgbClr val="171C26"/>
          </a:solidFill>
          <a:ln w="12700">
            <a:solidFill>
              <a:srgbClr val="2A31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0" y="202082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7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 / INFERENCE / LEAD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480560" y="2404872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892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generated report line is explicitly tagged so nothing is mistaken for confirmed fact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046720" y="1874520"/>
            <a:ext cx="3566160" cy="1417320"/>
          </a:xfrm>
          <a:prstGeom prst="roundRect">
            <a:avLst>
              <a:gd name="adj" fmla="val 3871"/>
            </a:avLst>
          </a:prstGeom>
          <a:solidFill>
            <a:srgbClr val="171C26"/>
          </a:solidFill>
          <a:ln w="12700">
            <a:solidFill>
              <a:srgbClr val="2A31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0" y="202082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7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Reliability Weighting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0" y="2404872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892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anonymous tip can never outscore a verified official record, by design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474720"/>
            <a:ext cx="3566160" cy="1417320"/>
          </a:xfrm>
          <a:prstGeom prst="roundRect">
            <a:avLst>
              <a:gd name="adj" fmla="val 3871"/>
            </a:avLst>
          </a:prstGeom>
          <a:solidFill>
            <a:srgbClr val="171C26"/>
          </a:solidFill>
          <a:ln w="12700">
            <a:solidFill>
              <a:srgbClr val="2A31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62102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7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Audit Trail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4005072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892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AI suggestion and investigator decision is logged immutably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297680" y="3474720"/>
            <a:ext cx="3566160" cy="1417320"/>
          </a:xfrm>
          <a:prstGeom prst="roundRect">
            <a:avLst>
              <a:gd name="adj" fmla="val 3871"/>
            </a:avLst>
          </a:prstGeom>
          <a:solidFill>
            <a:srgbClr val="171C26"/>
          </a:solidFill>
          <a:ln w="12700">
            <a:solidFill>
              <a:srgbClr val="2A31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80560" y="362102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7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Access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480560" y="4005072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892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/ Senior Investigator / Investigator / Analyst / Viewer — least-privilege by default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046720" y="3474720"/>
            <a:ext cx="3566160" cy="1417320"/>
          </a:xfrm>
          <a:prstGeom prst="roundRect">
            <a:avLst>
              <a:gd name="adj" fmla="val 3871"/>
            </a:avLst>
          </a:prstGeom>
          <a:solidFill>
            <a:srgbClr val="171C26"/>
          </a:solidFill>
          <a:ln w="12700">
            <a:solidFill>
              <a:srgbClr val="2A31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0" y="362102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7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Prompt-Injection Safe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29600" y="4005072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892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uploaded documents never reach the LLM directly — only pre-validated structured facts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A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SŪTRA doesn't replace an investigator's judgment.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297180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gives them the thread to pull.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39776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2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 Resolution · Knowledge Graph Analytics · Explainable Risk Scoring · Evidence-Cited AI — all real, all working, all on synthetic data.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5852160"/>
            <a:ext cx="3291840" cy="365760"/>
          </a:xfrm>
          <a:prstGeom prst="roundRect">
            <a:avLst>
              <a:gd name="adj" fmla="val 20000"/>
            </a:avLst>
          </a:prstGeom>
          <a:solidFill>
            <a:srgbClr val="171C26"/>
          </a:solidFill>
          <a:ln w="12700">
            <a:solidFill>
              <a:srgbClr val="47C9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58521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— QUESTIONS?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2026-08-22T16:45:20Z</dcterms:created>
  <dcterms:modified xsi:type="dcterms:W3CDTF">2026-08-22T16:45:20Z</dcterms:modified>
</cp:coreProperties>
</file>